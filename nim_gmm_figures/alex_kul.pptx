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7" r:id="rId2"/>
  </p:sldMasterIdLst>
  <p:notesMasterIdLst>
    <p:notesMasterId r:id="rId17"/>
  </p:notesMasterIdLst>
  <p:sldIdLst>
    <p:sldId id="259" r:id="rId3"/>
    <p:sldId id="282" r:id="rId4"/>
    <p:sldId id="279" r:id="rId5"/>
    <p:sldId id="280" r:id="rId6"/>
    <p:sldId id="281" r:id="rId7"/>
    <p:sldId id="277" r:id="rId8"/>
    <p:sldId id="294" r:id="rId9"/>
    <p:sldId id="297" r:id="rId10"/>
    <p:sldId id="323" r:id="rId11"/>
    <p:sldId id="320" r:id="rId12"/>
    <p:sldId id="321" r:id="rId13"/>
    <p:sldId id="322" r:id="rId14"/>
    <p:sldId id="307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722" y="138"/>
      </p:cViewPr>
      <p:guideLst>
        <p:guide orient="horz" pos="2160"/>
        <p:guide pos="3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7C8FBB-2E67-4593-BB38-85661A831D6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86CE65-A090-41F6-857A-8B46AC8CBE0F}">
      <dgm:prSet phldrT="[Text]"/>
      <dgm:spPr/>
      <dgm:t>
        <a:bodyPr/>
        <a:lstStyle/>
        <a:p>
          <a:r>
            <a:rPr lang="en-US" dirty="0"/>
            <a:t>Macroscopic Approach </a:t>
          </a:r>
        </a:p>
      </dgm:t>
    </dgm:pt>
    <dgm:pt modelId="{0A8638BD-F1BF-49E8-8FD6-D429183A7CF4}" type="parTrans" cxnId="{762C049A-4299-4D09-9E73-0A11899BC02B}">
      <dgm:prSet/>
      <dgm:spPr/>
      <dgm:t>
        <a:bodyPr/>
        <a:lstStyle/>
        <a:p>
          <a:endParaRPr lang="en-US"/>
        </a:p>
      </dgm:t>
    </dgm:pt>
    <dgm:pt modelId="{C421F4D0-1474-4286-B353-B388CB4C17C1}" type="sibTrans" cxnId="{762C049A-4299-4D09-9E73-0A11899BC02B}">
      <dgm:prSet/>
      <dgm:spPr/>
      <dgm:t>
        <a:bodyPr/>
        <a:lstStyle/>
        <a:p>
          <a:endParaRPr lang="en-US"/>
        </a:p>
      </dgm:t>
    </dgm:pt>
    <dgm:pt modelId="{C192BFD0-19E4-42D7-BD2C-884B2C435399}" type="pres">
      <dgm:prSet presAssocID="{3D7C8FBB-2E67-4593-BB38-85661A831D61}" presName="diagram" presStyleCnt="0">
        <dgm:presLayoutVars>
          <dgm:dir/>
          <dgm:resizeHandles val="exact"/>
        </dgm:presLayoutVars>
      </dgm:prSet>
      <dgm:spPr/>
    </dgm:pt>
    <dgm:pt modelId="{F75A5C9C-894D-4A32-8BCA-65A111514B69}" type="pres">
      <dgm:prSet presAssocID="{1086CE65-A090-41F6-857A-8B46AC8CBE0F}" presName="node" presStyleLbl="node1" presStyleIdx="0" presStyleCnt="1" custScaleX="273470">
        <dgm:presLayoutVars>
          <dgm:bulletEnabled val="1"/>
        </dgm:presLayoutVars>
      </dgm:prSet>
      <dgm:spPr/>
    </dgm:pt>
  </dgm:ptLst>
  <dgm:cxnLst>
    <dgm:cxn modelId="{A7DABC70-8B6D-4ACA-A8BA-83238CFCAC75}" type="presOf" srcId="{1086CE65-A090-41F6-857A-8B46AC8CBE0F}" destId="{F75A5C9C-894D-4A32-8BCA-65A111514B69}" srcOrd="0" destOrd="0" presId="urn:microsoft.com/office/officeart/2005/8/layout/default"/>
    <dgm:cxn modelId="{AC03348C-403B-430E-97EA-94B366E3E0C9}" type="presOf" srcId="{3D7C8FBB-2E67-4593-BB38-85661A831D61}" destId="{C192BFD0-19E4-42D7-BD2C-884B2C435399}" srcOrd="0" destOrd="0" presId="urn:microsoft.com/office/officeart/2005/8/layout/default"/>
    <dgm:cxn modelId="{762C049A-4299-4D09-9E73-0A11899BC02B}" srcId="{3D7C8FBB-2E67-4593-BB38-85661A831D61}" destId="{1086CE65-A090-41F6-857A-8B46AC8CBE0F}" srcOrd="0" destOrd="0" parTransId="{0A8638BD-F1BF-49E8-8FD6-D429183A7CF4}" sibTransId="{C421F4D0-1474-4286-B353-B388CB4C17C1}"/>
    <dgm:cxn modelId="{DE4C6282-6F05-48C8-9BF9-648D2471E301}" type="presParOf" srcId="{C192BFD0-19E4-42D7-BD2C-884B2C435399}" destId="{F75A5C9C-894D-4A32-8BCA-65A111514B6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A5C9C-894D-4A32-8BCA-65A111514B69}">
      <dsp:nvSpPr>
        <dsp:cNvPr id="0" name=""/>
        <dsp:cNvSpPr/>
      </dsp:nvSpPr>
      <dsp:spPr>
        <a:xfrm>
          <a:off x="1219115" y="327"/>
          <a:ext cx="2133637" cy="468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Macroscopic Approach </a:t>
          </a:r>
        </a:p>
      </dsp:txBody>
      <dsp:txXfrm>
        <a:off x="1219115" y="327"/>
        <a:ext cx="2133637" cy="468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F67E3-005B-4A5B-A64B-4E620D6532D3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6EB55-D046-4316-A421-6DEA4C9E91D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421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2" name="Rechthoek 11"/>
          <p:cNvSpPr/>
          <p:nvPr userDrawn="1"/>
        </p:nvSpPr>
        <p:spPr>
          <a:xfrm>
            <a:off x="0" y="4679576"/>
            <a:ext cx="9144000" cy="21759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91440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576000" y="1080000"/>
            <a:ext cx="4919366" cy="402479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Ondertitel 2"/>
          <p:cNvSpPr>
            <a:spLocks noGrp="1"/>
          </p:cNvSpPr>
          <p:nvPr>
            <p:ph type="subTitle" idx="1"/>
          </p:nvPr>
        </p:nvSpPr>
        <p:spPr>
          <a:xfrm>
            <a:off x="576000" y="5392800"/>
            <a:ext cx="4919366" cy="8207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1646238"/>
            <a:ext cx="2498893" cy="4567361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9319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269C-3B7C-F947-B90A-EBFC25B242E8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76263" y="1655999"/>
            <a:ext cx="7991475" cy="43923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9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0" y="1800000"/>
            <a:ext cx="4921624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4359600"/>
            <a:ext cx="4921624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4BD3098-FC3D-854E-BF2B-50032629A4EC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663108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15" name="Tijdelijke aanduiding voor afbeelding 2"/>
          <p:cNvSpPr>
            <a:spLocks noGrp="1"/>
          </p:cNvSpPr>
          <p:nvPr>
            <p:ph type="pic" sz="quarter" idx="18"/>
          </p:nvPr>
        </p:nvSpPr>
        <p:spPr>
          <a:xfrm>
            <a:off x="6071364" y="3435334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222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4921200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4921200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B2EC51B-A9B6-B847-B4B9-09B09BE290BE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afbeelding 2"/>
          <p:cNvSpPr>
            <a:spLocks noGrp="1"/>
          </p:cNvSpPr>
          <p:nvPr>
            <p:ph type="pic" sz="quarter" idx="10"/>
          </p:nvPr>
        </p:nvSpPr>
        <p:spPr>
          <a:xfrm>
            <a:off x="6071365" y="663108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8"/>
          </p:nvPr>
        </p:nvSpPr>
        <p:spPr>
          <a:xfrm>
            <a:off x="6071364" y="3435334"/>
            <a:ext cx="2498893" cy="2366963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061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00" y="1656000"/>
            <a:ext cx="3924000" cy="439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738" y="1656000"/>
            <a:ext cx="3924000" cy="439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A2B-69FB-D149-851B-406C9AA9C106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263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459" y="1656000"/>
            <a:ext cx="3924000" cy="576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459" y="2339788"/>
            <a:ext cx="3924000" cy="3708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49" y="1656000"/>
            <a:ext cx="3924000" cy="576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49" y="2339789"/>
            <a:ext cx="3924000" cy="37085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B95A-7E6C-A743-94EC-7F5A29C7E15A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720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53F7-FB60-904B-8239-0B6C206B7089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336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8C49-5D4D-9D42-B5C5-969639EAD0D5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536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68772" y="860612"/>
            <a:ext cx="7806456" cy="448517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5662-F80C-2C49-BBB6-402559CE3348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849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91440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1350253"/>
            <a:ext cx="4648209" cy="5507747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6516950" cy="238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6516947" cy="16559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87174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9144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701033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516951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516951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6D18C7-4785-6843-89F6-D34F61E33A9B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148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1" y="702253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516951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516951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43DB05-A793-C64C-A8AB-0586BE9B45D0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8144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6"/>
          <p:cNvSpPr/>
          <p:nvPr userDrawn="1"/>
        </p:nvSpPr>
        <p:spPr>
          <a:xfrm>
            <a:off x="0" y="6210000"/>
            <a:ext cx="914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F2D009E-8D2A-A242-9E5F-24710582AAB4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00" y="6353999"/>
            <a:ext cx="1008305" cy="360000"/>
          </a:xfrm>
          <a:prstGeom prst="rect">
            <a:avLst/>
          </a:prstGeom>
        </p:spPr>
      </p:pic>
      <p:sp>
        <p:nvSpPr>
          <p:cNvPr id="13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286250" y="6210000"/>
            <a:ext cx="369255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7991738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55999"/>
            <a:ext cx="7991738" cy="439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449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4" r:id="rId4"/>
    <p:sldLayoutId id="2147483664" r:id="rId5"/>
    <p:sldLayoutId id="2147483665" r:id="rId6"/>
    <p:sldLayoutId id="2147483666" r:id="rId7"/>
    <p:sldLayoutId id="2147483667" r:id="rId8"/>
    <p:sldLayoutId id="2147483676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16" userDrawn="1">
          <p15:clr>
            <a:srgbClr val="F26B43"/>
          </p15:clr>
        </p15:guide>
        <p15:guide id="2" pos="5397" userDrawn="1">
          <p15:clr>
            <a:srgbClr val="F26B43"/>
          </p15:clr>
        </p15:guide>
        <p15:guide id="3" orient="horz" pos="102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6"/>
          <p:cNvSpPr/>
          <p:nvPr userDrawn="1"/>
        </p:nvSpPr>
        <p:spPr>
          <a:xfrm>
            <a:off x="0" y="6210000"/>
            <a:ext cx="914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9950B540-FFE9-114B-82F2-E50E718A477E}" type="datetime1">
              <a:rPr lang="en-US" smtClean="0"/>
              <a:t>11/20/2024</a:t>
            </a:fld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00" y="6353999"/>
            <a:ext cx="1008305" cy="360000"/>
          </a:xfrm>
          <a:prstGeom prst="rect">
            <a:avLst/>
          </a:prstGeom>
        </p:spPr>
      </p:pic>
      <p:sp>
        <p:nvSpPr>
          <p:cNvPr id="13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286250" y="6210000"/>
            <a:ext cx="369255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7991738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7991738" cy="443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28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8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5397" userDrawn="1">
          <p15:clr>
            <a:srgbClr val="F26B43"/>
          </p15:clr>
        </p15:guide>
        <p15:guide id="3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8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9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9189" y="922638"/>
            <a:ext cx="8485622" cy="1430722"/>
          </a:xfrm>
        </p:spPr>
        <p:txBody>
          <a:bodyPr/>
          <a:lstStyle/>
          <a:p>
            <a:pPr algn="ctr"/>
            <a:r>
              <a:rPr lang="nl-NL" dirty="0"/>
              <a:t>Measurement of isoscalar resonances in 58Ni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9189" y="5284798"/>
            <a:ext cx="8749070" cy="1080143"/>
          </a:xfrm>
        </p:spPr>
        <p:txBody>
          <a:bodyPr>
            <a:noAutofit/>
          </a:bodyPr>
          <a:lstStyle/>
          <a:p>
            <a:pPr algn="ctr"/>
            <a:r>
              <a:rPr lang="nl-NL" sz="2000" b="1" dirty="0"/>
              <a:t>Alex Antony Arokiaraj</a:t>
            </a:r>
            <a:r>
              <a:rPr lang="nl-NL" sz="2000" dirty="0"/>
              <a:t>, 21 Nov 2024</a:t>
            </a:r>
          </a:p>
          <a:p>
            <a:pPr algn="ctr"/>
            <a:r>
              <a:rPr lang="nl-NL" sz="2000" dirty="0"/>
              <a:t>Supervised by Prof. Dr. Riccardo Raabe, Dr. Marine Vandenbrouck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87" y="2235199"/>
            <a:ext cx="3888260" cy="287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3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Giant Resonances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6001" y="1143076"/>
            <a:ext cx="2373934" cy="16955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935" y="1143076"/>
            <a:ext cx="6101676" cy="4489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2790" y="5580313"/>
            <a:ext cx="261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Bagchi 2015 PhD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277" y="2781994"/>
            <a:ext cx="1852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Elias Khan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81" y="4665639"/>
            <a:ext cx="358603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Multipole Decomposition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81" y="5183338"/>
            <a:ext cx="358603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Inelastic scattering – alpha probe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450866" y="4404029"/>
            <a:ext cx="7951" cy="26161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40620" y="5354252"/>
            <a:ext cx="545630" cy="625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7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Compressibility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23" y="3587835"/>
            <a:ext cx="2794677" cy="2135632"/>
          </a:xfrm>
          <a:prstGeom prst="rect">
            <a:avLst/>
          </a:prstGeom>
        </p:spPr>
      </p:pic>
      <p:pic>
        <p:nvPicPr>
          <p:cNvPr id="1026" name="Picture 2" descr="Image result for Ste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24" y="3587835"/>
            <a:ext cx="2717801" cy="213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Neutron Sta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73" y="3587835"/>
            <a:ext cx="2709827" cy="213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799" y="1035888"/>
            <a:ext cx="1952625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5061" y="3093415"/>
            <a:ext cx="14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2.2 * 10</a:t>
            </a:r>
            <a:r>
              <a:rPr lang="en-US" baseline="30000" dirty="0"/>
              <a:t>9</a:t>
            </a:r>
            <a:r>
              <a:rPr lang="en-US" dirty="0"/>
              <a:t> 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734" y="3091874"/>
            <a:ext cx="171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1.6 * 10</a:t>
            </a:r>
            <a:r>
              <a:rPr lang="en-US" baseline="30000" dirty="0"/>
              <a:t>11</a:t>
            </a:r>
            <a:r>
              <a:rPr lang="en-US" dirty="0"/>
              <a:t> 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4935" y="3095337"/>
            <a:ext cx="151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6.6 * 10</a:t>
            </a:r>
            <a:r>
              <a:rPr lang="en-US" b="1" baseline="30000" dirty="0">
                <a:solidFill>
                  <a:srgbClr val="FF0000"/>
                </a:solidFill>
              </a:rPr>
              <a:t>33</a:t>
            </a:r>
            <a:r>
              <a:rPr lang="en-US" b="1" dirty="0">
                <a:solidFill>
                  <a:srgbClr val="FF0000"/>
                </a:solidFill>
              </a:rPr>
              <a:t> Pa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547" y="2036707"/>
            <a:ext cx="1962150" cy="6762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663" y="529001"/>
            <a:ext cx="3951400" cy="153377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4896" y="2226633"/>
            <a:ext cx="1409700" cy="7048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8097" y="2158327"/>
            <a:ext cx="23622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4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51193" y="2943788"/>
            <a:ext cx="7991475" cy="103029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Impetus for GR measurements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8" y="1058228"/>
            <a:ext cx="3625795" cy="10929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69" y="1009234"/>
            <a:ext cx="3237630" cy="1144987"/>
          </a:xfrm>
          <a:prstGeom prst="rect">
            <a:avLst/>
          </a:prstGeom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223448010"/>
              </p:ext>
            </p:extLst>
          </p:nvPr>
        </p:nvGraphicFramePr>
        <p:xfrm>
          <a:off x="970060" y="2225387"/>
          <a:ext cx="4571869" cy="46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52600" y="2275111"/>
            <a:ext cx="217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100-400 MeV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8566" y="2328972"/>
            <a:ext cx="1598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J.P. Blaziot et.al 1995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505050" y="4174965"/>
            <a:ext cx="2133637" cy="468125"/>
            <a:chOff x="1219115" y="327"/>
            <a:chExt cx="2133637" cy="468125"/>
          </a:xfrm>
        </p:grpSpPr>
        <p:sp>
          <p:nvSpPr>
            <p:cNvPr id="14" name="Rectangle 13"/>
            <p:cNvSpPr/>
            <p:nvPr/>
          </p:nvSpPr>
          <p:spPr>
            <a:xfrm>
              <a:off x="1219115" y="327"/>
              <a:ext cx="2133637" cy="46812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19115" y="327"/>
              <a:ext cx="2133637" cy="4681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kern="1200" dirty="0"/>
                <a:t>Microscopic Approach 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1193" y="4710425"/>
            <a:ext cx="81341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Consistent RPA (Random Phase Approximations)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at the same time K</a:t>
            </a:r>
            <a:r>
              <a:rPr lang="en-US" baseline="-25000" dirty="0"/>
              <a:t>∞</a:t>
            </a:r>
            <a:r>
              <a:rPr lang="en-US" dirty="0"/>
              <a:t> , E</a:t>
            </a:r>
            <a:r>
              <a:rPr lang="en-US" baseline="-25000" dirty="0"/>
              <a:t>ISGMR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240 ± 10 MeV,  </a:t>
            </a:r>
            <a:r>
              <a:rPr lang="en-US" baseline="30000" dirty="0"/>
              <a:t>208</a:t>
            </a:r>
            <a:r>
              <a:rPr lang="en-US" dirty="0"/>
              <a:t>Pb </a:t>
            </a:r>
            <a:r>
              <a:rPr lang="en-US" sz="1100" i="1" dirty="0"/>
              <a:t>B.K.Agrawal et.al 2003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</a:t>
            </a:r>
            <a:r>
              <a:rPr lang="en-US" baseline="-25000" dirty="0"/>
              <a:t>∞</a:t>
            </a:r>
            <a:r>
              <a:rPr lang="en-US" dirty="0"/>
              <a:t>  = 230 ± 40 MeV,  </a:t>
            </a:r>
            <a:r>
              <a:rPr lang="en-US" baseline="30000" dirty="0"/>
              <a:t>208</a:t>
            </a:r>
            <a:r>
              <a:rPr lang="en-US" dirty="0"/>
              <a:t>Pb,</a:t>
            </a:r>
            <a:r>
              <a:rPr lang="en-US" baseline="30000" dirty="0"/>
              <a:t> 120</a:t>
            </a:r>
            <a:r>
              <a:rPr lang="en-US" dirty="0"/>
              <a:t>Sn </a:t>
            </a:r>
            <a:r>
              <a:rPr lang="en-US" sz="1100" i="1" dirty="0"/>
              <a:t>Khan et.al 2013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765854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Experimental works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9200"/>
              </p:ext>
            </p:extLst>
          </p:nvPr>
        </p:nvGraphicFramePr>
        <p:xfrm>
          <a:off x="637857" y="4016439"/>
          <a:ext cx="7868023" cy="2071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352">
                  <a:extLst>
                    <a:ext uri="{9D8B030D-6E8A-4147-A177-3AD203B41FA5}">
                      <a16:colId xmlns:a16="http://schemas.microsoft.com/office/drawing/2014/main" val="3175285269"/>
                    </a:ext>
                  </a:extLst>
                </a:gridCol>
                <a:gridCol w="1343771">
                  <a:extLst>
                    <a:ext uri="{9D8B030D-6E8A-4147-A177-3AD203B41FA5}">
                      <a16:colId xmlns:a16="http://schemas.microsoft.com/office/drawing/2014/main" val="3846737667"/>
                    </a:ext>
                  </a:extLst>
                </a:gridCol>
                <a:gridCol w="2178968">
                  <a:extLst>
                    <a:ext uri="{9D8B030D-6E8A-4147-A177-3AD203B41FA5}">
                      <a16:colId xmlns:a16="http://schemas.microsoft.com/office/drawing/2014/main" val="232205091"/>
                    </a:ext>
                  </a:extLst>
                </a:gridCol>
                <a:gridCol w="2114736">
                  <a:extLst>
                    <a:ext uri="{9D8B030D-6E8A-4147-A177-3AD203B41FA5}">
                      <a16:colId xmlns:a16="http://schemas.microsoft.com/office/drawing/2014/main" val="2641327518"/>
                    </a:ext>
                  </a:extLst>
                </a:gridCol>
                <a:gridCol w="1308196">
                  <a:extLst>
                    <a:ext uri="{9D8B030D-6E8A-4147-A177-3AD203B41FA5}">
                      <a16:colId xmlns:a16="http://schemas.microsoft.com/office/drawing/2014/main" val="692421335"/>
                    </a:ext>
                  </a:extLst>
                </a:gridCol>
              </a:tblGrid>
              <a:tr h="516835">
                <a:tc>
                  <a:txBody>
                    <a:bodyPr/>
                    <a:lstStyle/>
                    <a:p>
                      <a:r>
                        <a:rPr lang="en-US" sz="1400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Beam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Measurements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22701"/>
                  </a:ext>
                </a:extLst>
              </a:tr>
              <a:tr h="441447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56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Monrozeau et.al 2008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19.3 ± 0.5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ISGQR</a:t>
                      </a:r>
                      <a:r>
                        <a:rPr lang="en-US" sz="1400" dirty="0"/>
                        <a:t> = 16.2 ± 0.5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02282"/>
                  </a:ext>
                </a:extLst>
              </a:tr>
              <a:tr h="384574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68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Vandebrouck et.al 2015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21.1 ± 1.9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ISGQR</a:t>
                      </a:r>
                      <a:r>
                        <a:rPr lang="en-US" sz="1400" dirty="0"/>
                        <a:t> = 15.9 ± 1.3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019994"/>
                  </a:ext>
                </a:extLst>
              </a:tr>
              <a:tr h="384574">
                <a:tc>
                  <a:txBody>
                    <a:bodyPr/>
                    <a:lstStyle/>
                    <a:p>
                      <a:r>
                        <a:rPr lang="en-US" sz="1400" baseline="30000" dirty="0"/>
                        <a:t>56</a:t>
                      </a:r>
                      <a:r>
                        <a:rPr lang="en-US" sz="1400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MeV/A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Bagchi et.al 2015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ISGMR</a:t>
                      </a:r>
                      <a:r>
                        <a:rPr lang="en-US" sz="1400" dirty="0"/>
                        <a:t> = 19.1 ± 0.5 MeV</a:t>
                      </a:r>
                    </a:p>
                    <a:p>
                      <a:r>
                        <a:rPr lang="en-US" sz="1400" dirty="0"/>
                        <a:t>E</a:t>
                      </a:r>
                      <a:r>
                        <a:rPr lang="en-US" sz="1400" baseline="-25000" dirty="0"/>
                        <a:t>ISGDR</a:t>
                      </a:r>
                      <a:r>
                        <a:rPr lang="en-US" sz="1400" dirty="0"/>
                        <a:t> = 17.4 ± 0.7 MeV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0807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94BEC96-8C22-4C49-9713-1EBF030023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"/>
          <a:stretch/>
        </p:blipFill>
        <p:spPr>
          <a:xfrm>
            <a:off x="637857" y="1121348"/>
            <a:ext cx="3364218" cy="2772845"/>
          </a:xfrm>
          <a:prstGeom prst="rect">
            <a:avLst/>
          </a:prstGeom>
          <a:ln w="25400">
            <a:solidFill>
              <a:srgbClr val="116E8A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177" y="3145691"/>
            <a:ext cx="1457325" cy="809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32" y="3249323"/>
            <a:ext cx="4529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Error of 0.5 MeV translates into a 10MeV error on K</a:t>
            </a:r>
            <a:r>
              <a:rPr lang="en-US" b="1" baseline="-25000" dirty="0"/>
              <a:t>∞</a:t>
            </a:r>
            <a:r>
              <a:rPr lang="en-US" b="1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6E4282-B35D-D44C-BC67-A6D5AAD228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96" y="1112314"/>
            <a:ext cx="4831572" cy="2016224"/>
          </a:xfrm>
          <a:prstGeom prst="rect">
            <a:avLst/>
          </a:prstGeom>
          <a:ln w="25400">
            <a:solidFill>
              <a:srgbClr val="116E8A"/>
            </a:solidFill>
          </a:ln>
        </p:spPr>
      </p:pic>
    </p:spTree>
    <p:extLst>
      <p:ext uri="{BB962C8B-B14F-4D97-AF65-F5344CB8AC3E}">
        <p14:creationId xmlns:p14="http://schemas.microsoft.com/office/powerpoint/2010/main" val="300807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76263" y="214184"/>
            <a:ext cx="7991475" cy="58341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Limiting Factors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286"/>
            <a:ext cx="5088835" cy="45392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57939" y="5069456"/>
            <a:ext cx="16738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Vandebrouck et.al 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5159691"/>
            <a:ext cx="4245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Angular distribution prediction calculated in the DWBA approximation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3444" y="5404136"/>
            <a:ext cx="261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Fig courtesy: Bagchi 2015 PhD Thesis</a:t>
            </a:r>
          </a:p>
        </p:txBody>
      </p:sp>
      <p:pic>
        <p:nvPicPr>
          <p:cNvPr id="14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868" y="1036290"/>
            <a:ext cx="4665132" cy="362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1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8266" y="131333"/>
            <a:ext cx="7991738" cy="1152000"/>
          </a:xfrm>
        </p:spPr>
        <p:txBody>
          <a:bodyPr/>
          <a:lstStyle/>
          <a:p>
            <a:r>
              <a:rPr lang="en-US" dirty="0"/>
              <a:t>MAYA &amp; ACTAR TPC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8266" y="1017201"/>
            <a:ext cx="5138733" cy="3406546"/>
          </a:xfrm>
          <a:prstGeom prst="rect">
            <a:avLst/>
          </a:prstGeom>
        </p:spPr>
      </p:pic>
      <p:pic>
        <p:nvPicPr>
          <p:cNvPr id="8" name="Image 39" descr="ACTAR complet.bmp">
            <a:extLst>
              <a:ext uri="{FF2B5EF4-FFF2-40B4-BE49-F238E27FC236}">
                <a16:creationId xmlns:a16="http://schemas.microsoft.com/office/drawing/2014/main" id="{DD796C3B-75EE-934C-B708-405A170F942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2678" y="1183161"/>
            <a:ext cx="2637326" cy="32405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3131" y="4522801"/>
            <a:ext cx="4243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05050"/>
                </a:solidFill>
                <a:latin typeface="Arial" panose="020B0604020202020204" pitchFamily="34" charset="0"/>
              </a:rPr>
              <a:t>35×35 hexagonal pads with 5 mm sides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76601" y="4892133"/>
            <a:ext cx="386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From 1 MeV to 100 KeV improvement in energy resolution</a:t>
            </a:r>
          </a:p>
        </p:txBody>
      </p:sp>
    </p:spTree>
    <p:extLst>
      <p:ext uri="{BB962C8B-B14F-4D97-AF65-F5344CB8AC3E}">
        <p14:creationId xmlns:p14="http://schemas.microsoft.com/office/powerpoint/2010/main" val="82824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76263" y="214184"/>
            <a:ext cx="7991475" cy="583419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002060"/>
                </a:solidFill>
                <a:latin typeface="Agency FB" panose="020B0503020202020204" pitchFamily="34" charset="0"/>
              </a:rPr>
              <a:t>Data Analysis: </a:t>
            </a:r>
            <a:r>
              <a:rPr lang="en-US" b="1" u="sng" dirty="0">
                <a:solidFill>
                  <a:srgbClr val="002060"/>
                </a:solidFill>
                <a:highlight>
                  <a:srgbClr val="00FF00"/>
                </a:highlight>
                <a:latin typeface="Agency FB" panose="020B0503020202020204" pitchFamily="34" charset="0"/>
              </a:rPr>
              <a:t>Simulations</a:t>
            </a:r>
            <a:r>
              <a:rPr lang="en-US" b="1" u="sng" dirty="0">
                <a:solidFill>
                  <a:srgbClr val="002060"/>
                </a:solidFill>
                <a:latin typeface="Agency FB" panose="020B0503020202020204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 – e780 @ LISE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0263" y="3579223"/>
            <a:ext cx="3500846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9F5D3-C40C-7FCC-6BA2-7E11B81E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1017587"/>
            <a:ext cx="6705600" cy="393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FB870-F46D-28F2-9449-541950AF9E10}"/>
              </a:ext>
            </a:extLst>
          </p:cNvPr>
          <p:cNvSpPr txBox="1"/>
          <p:nvPr/>
        </p:nvSpPr>
        <p:spPr>
          <a:xfrm>
            <a:off x="470263" y="4812320"/>
            <a:ext cx="816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effectLst/>
                <a:latin typeface="Abadi" panose="020B0604020104020204" pitchFamily="34" charset="0"/>
              </a:rPr>
              <a:t>Events reconstructed from the simulation on the kinematic line. The numbers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marked on each kinematic line represent the excitation energy in MeV. The filled red circles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correspond to the center of mass angles (θcm=1.0◦, 2.0◦, 3.0◦, 4.0◦) for each excitation</a:t>
            </a:r>
            <a:br>
              <a:rPr lang="en-US" sz="1200" dirty="0">
                <a:latin typeface="Abadi" panose="020B0604020104020204" pitchFamily="34" charset="0"/>
              </a:rPr>
            </a:br>
            <a:r>
              <a:rPr lang="en-US" sz="1200" b="0" i="0" dirty="0">
                <a:effectLst/>
                <a:latin typeface="Abadi" panose="020B0604020104020204" pitchFamily="34" charset="0"/>
              </a:rPr>
              <a:t>energy</a:t>
            </a:r>
            <a:endParaRPr lang="nl-BE" sz="1200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B55FF-9179-0A0C-8300-4D0E775E48DE}"/>
              </a:ext>
            </a:extLst>
          </p:cNvPr>
          <p:cNvSpPr txBox="1"/>
          <p:nvPr/>
        </p:nvSpPr>
        <p:spPr>
          <a:xfrm>
            <a:off x="2203450" y="976312"/>
            <a:ext cx="480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badi" panose="020B0604020104020204" pitchFamily="34" charset="0"/>
              </a:rPr>
              <a:t>Method based on likelihood of points belonging to a track</a:t>
            </a:r>
            <a:endParaRPr lang="nl-BE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67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CB7A89-C622-7B31-5ED2-2940A865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2954B-1AFF-3C3D-E9B8-4250B0A2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F0CD9-3460-C538-E805-30340BBED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509712"/>
            <a:ext cx="7353300" cy="3838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8FEEDF-0B59-9235-545A-3E78A6E471A6}"/>
              </a:ext>
            </a:extLst>
          </p:cNvPr>
          <p:cNvSpPr txBox="1"/>
          <p:nvPr/>
        </p:nvSpPr>
        <p:spPr>
          <a:xfrm>
            <a:off x="2203450" y="976312"/>
            <a:ext cx="480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badi" panose="020B0604020104020204" pitchFamily="34" charset="0"/>
              </a:rPr>
              <a:t>Method based on likelihood of points belonging to a track</a:t>
            </a:r>
            <a:endParaRPr lang="nl-BE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97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74282" y="6210000"/>
            <a:ext cx="3692550" cy="648000"/>
          </a:xfrm>
        </p:spPr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CF8ABBEC-A01D-A6F0-0979-D73D50C4BC5D}"/>
              </a:ext>
            </a:extLst>
          </p:cNvPr>
          <p:cNvSpPr txBox="1">
            <a:spLocks/>
          </p:cNvSpPr>
          <p:nvPr/>
        </p:nvSpPr>
        <p:spPr>
          <a:xfrm>
            <a:off x="372800" y="393800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>
              <a:solidFill>
                <a:srgbClr val="00B050"/>
              </a:solidFill>
              <a:latin typeface="Aptos ExtraBold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80DC36-C5E2-3397-2BFC-185968E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836"/>
            <a:ext cx="8985381" cy="4918327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51C564AA-64CD-CF74-BD64-DC093D09230D}"/>
              </a:ext>
            </a:extLst>
          </p:cNvPr>
          <p:cNvSpPr txBox="1">
            <a:spLocks/>
          </p:cNvSpPr>
          <p:nvPr/>
        </p:nvSpPr>
        <p:spPr>
          <a:xfrm>
            <a:off x="512500" y="141262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Elastic Peak</a:t>
            </a:r>
            <a:endParaRPr lang="en-US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76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74282" y="6210000"/>
            <a:ext cx="3692550" cy="648000"/>
          </a:xfrm>
        </p:spPr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CF8ABBEC-A01D-A6F0-0979-D73D50C4BC5D}"/>
              </a:ext>
            </a:extLst>
          </p:cNvPr>
          <p:cNvSpPr txBox="1">
            <a:spLocks/>
          </p:cNvSpPr>
          <p:nvPr/>
        </p:nvSpPr>
        <p:spPr>
          <a:xfrm>
            <a:off x="372800" y="393800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>
              <a:solidFill>
                <a:srgbClr val="00B050"/>
              </a:solidFill>
              <a:latin typeface="Aptos ExtraBold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1C564AA-64CD-CF74-BD64-DC093D09230D}"/>
              </a:ext>
            </a:extLst>
          </p:cNvPr>
          <p:cNvSpPr txBox="1">
            <a:spLocks/>
          </p:cNvSpPr>
          <p:nvPr/>
        </p:nvSpPr>
        <p:spPr>
          <a:xfrm>
            <a:off x="512500" y="141262"/>
            <a:ext cx="7991738" cy="78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Kinematics – Experimental Data </a:t>
            </a:r>
            <a:endParaRPr lang="en-US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ED88A1-6E80-CBBE-AE02-3CCF95599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62"/>
            <a:ext cx="9144000" cy="519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9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F1A9B9-7493-EDFB-7A54-2E5D4E00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5C1BF6-8AB5-2690-86FC-A044E3C8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12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C2EA0-D15F-DFD7-4C95-FCC7C39F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028"/>
            <a:ext cx="9144000" cy="5084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CA1F9B-D9C9-F8C6-AA87-1AC569D7B421}"/>
              </a:ext>
            </a:extLst>
          </p:cNvPr>
          <p:cNvSpPr txBox="1"/>
          <p:nvPr/>
        </p:nvSpPr>
        <p:spPr>
          <a:xfrm>
            <a:off x="2168525" y="494111"/>
            <a:ext cx="480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badi" panose="020B0604020104020204" pitchFamily="34" charset="0"/>
              </a:rPr>
              <a:t>Article on the Reconstruction Techniques</a:t>
            </a:r>
            <a:endParaRPr lang="nl-BE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145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Simulations for a paper on the study of the beta delayed alpha particles from 11 Be. </a:t>
            </a:r>
          </a:p>
          <a:p>
            <a:r>
              <a:rPr lang="en-US" dirty="0"/>
              <a:t>Master project for a 3 ECTS course (Research Methods in Nuclear Physics)</a:t>
            </a:r>
          </a:p>
          <a:p>
            <a:r>
              <a:rPr lang="en-US" dirty="0"/>
              <a:t>Teaching assistant for the Classical Mechanics course</a:t>
            </a:r>
          </a:p>
          <a:p>
            <a:r>
              <a:rPr lang="en-US" b="1" dirty="0"/>
              <a:t>Additional course units followed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Managing my PhD </a:t>
            </a:r>
          </a:p>
          <a:p>
            <a:pPr lvl="0"/>
            <a:r>
              <a:rPr lang="en-US" dirty="0"/>
              <a:t>Data Analysis with Python </a:t>
            </a:r>
          </a:p>
          <a:p>
            <a:pPr lvl="0"/>
            <a:r>
              <a:rPr lang="en-US" dirty="0"/>
              <a:t>Intensive Academic Writing </a:t>
            </a:r>
          </a:p>
          <a:p>
            <a:pPr lvl="0"/>
            <a:r>
              <a:rPr lang="en-US" dirty="0"/>
              <a:t>Writing successful grants </a:t>
            </a:r>
          </a:p>
          <a:p>
            <a:pPr lvl="0"/>
            <a:r>
              <a:rPr lang="en-US" dirty="0"/>
              <a:t>Creative Problem Solving</a:t>
            </a:r>
          </a:p>
          <a:p>
            <a:pPr lvl="0"/>
            <a:r>
              <a:rPr lang="en-US" dirty="0"/>
              <a:t>Interpersonal Skills</a:t>
            </a:r>
          </a:p>
          <a:p>
            <a:pPr lvl="0"/>
            <a:r>
              <a:rPr lang="en-US" dirty="0"/>
              <a:t>Introduction to Leadership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Activities	</a:t>
            </a:r>
          </a:p>
        </p:txBody>
      </p:sp>
    </p:spTree>
    <p:extLst>
      <p:ext uri="{BB962C8B-B14F-4D97-AF65-F5344CB8AC3E}">
        <p14:creationId xmlns:p14="http://schemas.microsoft.com/office/powerpoint/2010/main" val="123551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Instituut voor Kern- en Stralingsfysica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14</a:t>
            </a:fld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82448" y="2466219"/>
            <a:ext cx="6802811" cy="1152000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441597810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514</Words>
  <Application>Microsoft Office PowerPoint</Application>
  <PresentationFormat>On-screen Show (4:3)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Abadi</vt:lpstr>
      <vt:lpstr>Agency FB</vt:lpstr>
      <vt:lpstr>Aptos ExtraBold</vt:lpstr>
      <vt:lpstr>Arial</vt:lpstr>
      <vt:lpstr>Calibri</vt:lpstr>
      <vt:lpstr>Segoe UI</vt:lpstr>
      <vt:lpstr>KU Leuven</vt:lpstr>
      <vt:lpstr>KU Leuven sedes</vt:lpstr>
      <vt:lpstr>Measurement of isoscalar resonances in 58Ni</vt:lpstr>
      <vt:lpstr>Giant Resonances </vt:lpstr>
      <vt:lpstr>Compressibility</vt:lpstr>
      <vt:lpstr>Impetus for GR measurements </vt:lpstr>
      <vt:lpstr>Previous Experimental works</vt:lpstr>
      <vt:lpstr>PowerPoint Presentation</vt:lpstr>
      <vt:lpstr>MAYA &amp; ACTAR TPC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Activities 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2017-09-13T11:56:44Z</dcterms:created>
  <dcterms:modified xsi:type="dcterms:W3CDTF">2024-11-20T07:27:41Z</dcterms:modified>
</cp:coreProperties>
</file>