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  <p:sldMasterId id="2147483677" r:id="rId2"/>
  </p:sldMasterIdLst>
  <p:notesMasterIdLst>
    <p:notesMasterId r:id="rId16"/>
  </p:notesMasterIdLst>
  <p:sldIdLst>
    <p:sldId id="259" r:id="rId3"/>
    <p:sldId id="282" r:id="rId4"/>
    <p:sldId id="280" r:id="rId5"/>
    <p:sldId id="281" r:id="rId6"/>
    <p:sldId id="277" r:id="rId7"/>
    <p:sldId id="294" r:id="rId8"/>
    <p:sldId id="323" r:id="rId9"/>
    <p:sldId id="297" r:id="rId10"/>
    <p:sldId id="320" r:id="rId11"/>
    <p:sldId id="321" r:id="rId12"/>
    <p:sldId id="322" r:id="rId13"/>
    <p:sldId id="307" r:id="rId14"/>
    <p:sldId id="291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3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1122" y="114"/>
      </p:cViewPr>
      <p:guideLst>
        <p:guide orient="horz" pos="2160"/>
        <p:guide pos="36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7C8FBB-2E67-4593-BB38-85661A831D6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086CE65-A090-41F6-857A-8B46AC8CBE0F}">
      <dgm:prSet phldrT="[Text]"/>
      <dgm:spPr/>
      <dgm:t>
        <a:bodyPr/>
        <a:lstStyle/>
        <a:p>
          <a:r>
            <a:rPr lang="en-US" dirty="0"/>
            <a:t>Macroscopic Approach </a:t>
          </a:r>
        </a:p>
      </dgm:t>
    </dgm:pt>
    <dgm:pt modelId="{0A8638BD-F1BF-49E8-8FD6-D429183A7CF4}" type="parTrans" cxnId="{762C049A-4299-4D09-9E73-0A11899BC02B}">
      <dgm:prSet/>
      <dgm:spPr/>
      <dgm:t>
        <a:bodyPr/>
        <a:lstStyle/>
        <a:p>
          <a:endParaRPr lang="en-US"/>
        </a:p>
      </dgm:t>
    </dgm:pt>
    <dgm:pt modelId="{C421F4D0-1474-4286-B353-B388CB4C17C1}" type="sibTrans" cxnId="{762C049A-4299-4D09-9E73-0A11899BC02B}">
      <dgm:prSet/>
      <dgm:spPr/>
      <dgm:t>
        <a:bodyPr/>
        <a:lstStyle/>
        <a:p>
          <a:endParaRPr lang="en-US"/>
        </a:p>
      </dgm:t>
    </dgm:pt>
    <dgm:pt modelId="{C192BFD0-19E4-42D7-BD2C-884B2C435399}" type="pres">
      <dgm:prSet presAssocID="{3D7C8FBB-2E67-4593-BB38-85661A831D61}" presName="diagram" presStyleCnt="0">
        <dgm:presLayoutVars>
          <dgm:dir/>
          <dgm:resizeHandles val="exact"/>
        </dgm:presLayoutVars>
      </dgm:prSet>
      <dgm:spPr/>
    </dgm:pt>
    <dgm:pt modelId="{F75A5C9C-894D-4A32-8BCA-65A111514B69}" type="pres">
      <dgm:prSet presAssocID="{1086CE65-A090-41F6-857A-8B46AC8CBE0F}" presName="node" presStyleLbl="node1" presStyleIdx="0" presStyleCnt="1" custScaleX="273470">
        <dgm:presLayoutVars>
          <dgm:bulletEnabled val="1"/>
        </dgm:presLayoutVars>
      </dgm:prSet>
      <dgm:spPr/>
    </dgm:pt>
  </dgm:ptLst>
  <dgm:cxnLst>
    <dgm:cxn modelId="{A7DABC70-8B6D-4ACA-A8BA-83238CFCAC75}" type="presOf" srcId="{1086CE65-A090-41F6-857A-8B46AC8CBE0F}" destId="{F75A5C9C-894D-4A32-8BCA-65A111514B69}" srcOrd="0" destOrd="0" presId="urn:microsoft.com/office/officeart/2005/8/layout/default"/>
    <dgm:cxn modelId="{AC03348C-403B-430E-97EA-94B366E3E0C9}" type="presOf" srcId="{3D7C8FBB-2E67-4593-BB38-85661A831D61}" destId="{C192BFD0-19E4-42D7-BD2C-884B2C435399}" srcOrd="0" destOrd="0" presId="urn:microsoft.com/office/officeart/2005/8/layout/default"/>
    <dgm:cxn modelId="{762C049A-4299-4D09-9E73-0A11899BC02B}" srcId="{3D7C8FBB-2E67-4593-BB38-85661A831D61}" destId="{1086CE65-A090-41F6-857A-8B46AC8CBE0F}" srcOrd="0" destOrd="0" parTransId="{0A8638BD-F1BF-49E8-8FD6-D429183A7CF4}" sibTransId="{C421F4D0-1474-4286-B353-B388CB4C17C1}"/>
    <dgm:cxn modelId="{DE4C6282-6F05-48C8-9BF9-648D2471E301}" type="presParOf" srcId="{C192BFD0-19E4-42D7-BD2C-884B2C435399}" destId="{F75A5C9C-894D-4A32-8BCA-65A111514B69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5A5C9C-894D-4A32-8BCA-65A111514B69}">
      <dsp:nvSpPr>
        <dsp:cNvPr id="0" name=""/>
        <dsp:cNvSpPr/>
      </dsp:nvSpPr>
      <dsp:spPr>
        <a:xfrm>
          <a:off x="1219115" y="327"/>
          <a:ext cx="2133637" cy="4681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Macroscopic Approach </a:t>
          </a:r>
        </a:p>
      </dsp:txBody>
      <dsp:txXfrm>
        <a:off x="1219115" y="327"/>
        <a:ext cx="2133637" cy="4681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4F67E3-005B-4A5B-A64B-4E620D6532D3}" type="datetimeFigureOut">
              <a:rPr lang="nl-NL" smtClean="0"/>
              <a:t>11-10-2025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F6EB55-D046-4316-A421-6DEA4C9E91D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4421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12" name="Rechthoek 11"/>
          <p:cNvSpPr/>
          <p:nvPr userDrawn="1"/>
        </p:nvSpPr>
        <p:spPr>
          <a:xfrm>
            <a:off x="0" y="4679576"/>
            <a:ext cx="9144000" cy="217598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8" name="Rechthoek 7"/>
          <p:cNvSpPr/>
          <p:nvPr userDrawn="1"/>
        </p:nvSpPr>
        <p:spPr>
          <a:xfrm>
            <a:off x="0" y="647998"/>
            <a:ext cx="9144000" cy="445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pic>
        <p:nvPicPr>
          <p:cNvPr id="9" name="Afbeelding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60000"/>
            <a:ext cx="2018135" cy="720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/>
          </p:nvPr>
        </p:nvSpPr>
        <p:spPr>
          <a:xfrm>
            <a:off x="576000" y="1080000"/>
            <a:ext cx="4919366" cy="4024798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11" name="Ondertitel 2"/>
          <p:cNvSpPr>
            <a:spLocks noGrp="1"/>
          </p:cNvSpPr>
          <p:nvPr>
            <p:ph type="subTitle" idx="1"/>
          </p:nvPr>
        </p:nvSpPr>
        <p:spPr>
          <a:xfrm>
            <a:off x="576000" y="5392800"/>
            <a:ext cx="4919366" cy="82079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24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sz="quarter" idx="10"/>
          </p:nvPr>
        </p:nvSpPr>
        <p:spPr>
          <a:xfrm>
            <a:off x="6071365" y="1646238"/>
            <a:ext cx="2498893" cy="4567361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793196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FBAE40"/>
          </p15:clr>
        </p15:guide>
        <p15:guide id="2" pos="446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5269C-3B7C-F947-B90A-EBFC25B242E8}" type="datetime1">
              <a:rPr lang="en-US" smtClean="0"/>
              <a:t>10/11/2025</a:t>
            </a:fld>
            <a:endParaRPr lang="nl-NL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76263" y="1655999"/>
            <a:ext cx="7991475" cy="43923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N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0397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9144000" cy="62075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576000" y="1800000"/>
            <a:ext cx="4921624" cy="23868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9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4359600"/>
            <a:ext cx="4921624" cy="1501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4BD3098-FC3D-854E-BF2B-50032629A4EC}" type="datetime1">
              <a:rPr lang="en-US" smtClean="0"/>
              <a:t>10/11/2025</a:t>
            </a:fld>
            <a:endParaRPr lang="nl-NL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0" name="Tijdelijke aanduiding voor afbeelding 2"/>
          <p:cNvSpPr>
            <a:spLocks noGrp="1"/>
          </p:cNvSpPr>
          <p:nvPr>
            <p:ph type="pic" sz="quarter" idx="10"/>
          </p:nvPr>
        </p:nvSpPr>
        <p:spPr>
          <a:xfrm>
            <a:off x="6071365" y="663108"/>
            <a:ext cx="2498893" cy="2366963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15" name="Tijdelijke aanduiding voor afbeelding 2"/>
          <p:cNvSpPr>
            <a:spLocks noGrp="1"/>
          </p:cNvSpPr>
          <p:nvPr>
            <p:ph type="pic" sz="quarter" idx="18"/>
          </p:nvPr>
        </p:nvSpPr>
        <p:spPr>
          <a:xfrm>
            <a:off x="6071364" y="3435334"/>
            <a:ext cx="2498893" cy="2366963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92229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446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575999" y="1800000"/>
            <a:ext cx="4921200" cy="23868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9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5999" y="4359600"/>
            <a:ext cx="4921200" cy="1501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B2EC51B-A9B6-B847-B4B9-09B09BE290BE}" type="datetime1">
              <a:rPr lang="en-US" smtClean="0"/>
              <a:t>10/11/2025</a:t>
            </a:fld>
            <a:endParaRPr lang="nl-NL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7" name="Tijdelijke aanduiding voor afbeelding 2"/>
          <p:cNvSpPr>
            <a:spLocks noGrp="1"/>
          </p:cNvSpPr>
          <p:nvPr>
            <p:ph type="pic" sz="quarter" idx="10"/>
          </p:nvPr>
        </p:nvSpPr>
        <p:spPr>
          <a:xfrm>
            <a:off x="6071365" y="663108"/>
            <a:ext cx="2498893" cy="2366963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10" name="Tijdelijke aanduiding voor afbeelding 2"/>
          <p:cNvSpPr>
            <a:spLocks noGrp="1"/>
          </p:cNvSpPr>
          <p:nvPr>
            <p:ph type="pic" sz="quarter" idx="18"/>
          </p:nvPr>
        </p:nvSpPr>
        <p:spPr>
          <a:xfrm>
            <a:off x="6071364" y="3435334"/>
            <a:ext cx="2498893" cy="2366963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006195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446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6000" y="1656000"/>
            <a:ext cx="3924000" cy="4392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738" y="1656000"/>
            <a:ext cx="3924000" cy="4392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3A2B-69FB-D149-851B-406C9AA9C106}" type="datetime1">
              <a:rPr lang="en-US" smtClean="0"/>
              <a:t>10/11/2025</a:t>
            </a:fld>
            <a:endParaRPr lang="nl-NL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82636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459" y="1656000"/>
            <a:ext cx="3924000" cy="5760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3459" y="2339788"/>
            <a:ext cx="3924000" cy="37085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49" y="1656000"/>
            <a:ext cx="3924000" cy="5760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49" y="2339789"/>
            <a:ext cx="3924000" cy="370858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BB95A-7E6C-A743-94EC-7F5A29C7E15A}" type="datetime1">
              <a:rPr lang="en-US" smtClean="0"/>
              <a:t>10/11/2025</a:t>
            </a:fld>
            <a:endParaRPr lang="nl-NL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17200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253F7-FB60-904B-8239-0B6C206B7089}" type="datetime1">
              <a:rPr lang="en-US" smtClean="0"/>
              <a:t>10/11/2025</a:t>
            </a:fld>
            <a:endParaRPr lang="nl-NL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33366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88C49-5D4D-9D42-B5C5-969639EAD0D5}" type="datetime1">
              <a:rPr lang="en-US" smtClean="0"/>
              <a:t>10/11/2025</a:t>
            </a:fld>
            <a:endParaRPr lang="nl-N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05364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Slo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668772" y="860612"/>
            <a:ext cx="7806456" cy="448517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>
              <a:defRPr sz="48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C5662-F80C-2C49-BBB6-402559CE3348}" type="datetime1">
              <a:rPr lang="en-US" smtClean="0"/>
              <a:t>10/11/2025</a:t>
            </a:fld>
            <a:endParaRPr lang="nl-NL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78493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8" name="Rechthoek 7"/>
          <p:cNvSpPr/>
          <p:nvPr userDrawn="1"/>
        </p:nvSpPr>
        <p:spPr>
          <a:xfrm>
            <a:off x="0" y="647998"/>
            <a:ext cx="9144000" cy="6210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791" y="1350253"/>
            <a:ext cx="4648209" cy="5507747"/>
          </a:xfrm>
          <a:prstGeom prst="rect">
            <a:avLst/>
          </a:prstGeom>
        </p:spPr>
      </p:pic>
      <p:pic>
        <p:nvPicPr>
          <p:cNvPr id="9" name="Afbeelding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60000"/>
            <a:ext cx="2018135" cy="720000"/>
          </a:xfrm>
          <a:prstGeom prst="rect">
            <a:avLst/>
          </a:prstGeom>
        </p:spPr>
      </p:pic>
      <p:sp>
        <p:nvSpPr>
          <p:cNvPr id="14" name="Title 2"/>
          <p:cNvSpPr>
            <a:spLocks noGrp="1"/>
          </p:cNvSpPr>
          <p:nvPr>
            <p:ph type="title"/>
          </p:nvPr>
        </p:nvSpPr>
        <p:spPr>
          <a:xfrm>
            <a:off x="576000" y="1800000"/>
            <a:ext cx="6516950" cy="23868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15" name="Ondertitel 2"/>
          <p:cNvSpPr>
            <a:spLocks noGrp="1"/>
          </p:cNvSpPr>
          <p:nvPr>
            <p:ph type="subTitle" idx="1"/>
          </p:nvPr>
        </p:nvSpPr>
        <p:spPr>
          <a:xfrm>
            <a:off x="576003" y="4359604"/>
            <a:ext cx="6516947" cy="165599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2400" baseline="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nl-NL" dirty="0"/>
              <a:t>Klik om de ondertitelstijl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287174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>
          <p15:clr>
            <a:srgbClr val="FBAE40"/>
          </p15:clr>
        </p15:guide>
        <p15:guide id="2" pos="446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9144000" cy="62075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791" y="701033"/>
            <a:ext cx="4648209" cy="5507747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575999" y="1800000"/>
            <a:ext cx="6516951" cy="23868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9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5999" y="4359600"/>
            <a:ext cx="6516951" cy="1501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E36D18C7-4785-6843-89F6-D34F61E33A9B}" type="datetime1">
              <a:rPr lang="en-US" smtClean="0"/>
              <a:t>10/11/2025</a:t>
            </a:fld>
            <a:endParaRPr lang="nl-NL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31481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46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791" y="702253"/>
            <a:ext cx="4648209" cy="5507747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575999" y="1800000"/>
            <a:ext cx="6516951" cy="23868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9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5999" y="4359600"/>
            <a:ext cx="6516951" cy="1501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E43DB05-A793-C64C-A8AB-0586BE9B45D0}" type="datetime1">
              <a:rPr lang="en-US" smtClean="0"/>
              <a:t>10/11/2025</a:t>
            </a:fld>
            <a:endParaRPr lang="nl-NL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81441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46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6"/>
          <p:cNvSpPr/>
          <p:nvPr userDrawn="1"/>
        </p:nvSpPr>
        <p:spPr>
          <a:xfrm>
            <a:off x="0" y="6210000"/>
            <a:ext cx="9144000" cy="64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10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F2D009E-8D2A-A242-9E5F-24710582AAB4}" type="datetime1">
              <a:rPr lang="en-US" smtClean="0"/>
              <a:t>10/11/2025</a:t>
            </a:fld>
            <a:endParaRPr lang="nl-NL" dirty="0"/>
          </a:p>
        </p:txBody>
      </p:sp>
      <p:sp>
        <p:nvSpPr>
          <p:cNvPr id="11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2" name="Afbeelding 7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3200" y="6353999"/>
            <a:ext cx="1008305" cy="360000"/>
          </a:xfrm>
          <a:prstGeom prst="rect">
            <a:avLst/>
          </a:prstGeom>
        </p:spPr>
      </p:pic>
      <p:sp>
        <p:nvSpPr>
          <p:cNvPr id="13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286250" y="6210000"/>
            <a:ext cx="369255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6000" y="216000"/>
            <a:ext cx="7991738" cy="115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6000" y="1655999"/>
            <a:ext cx="7991738" cy="439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24497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74" r:id="rId4"/>
    <p:sldLayoutId id="2147483664" r:id="rId5"/>
    <p:sldLayoutId id="2147483665" r:id="rId6"/>
    <p:sldLayoutId id="2147483666" r:id="rId7"/>
    <p:sldLayoutId id="2147483667" r:id="rId8"/>
    <p:sldLayoutId id="2147483676" r:id="rId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16" userDrawn="1">
          <p15:clr>
            <a:srgbClr val="F26B43"/>
          </p15:clr>
        </p15:guide>
        <p15:guide id="2" pos="5397" userDrawn="1">
          <p15:clr>
            <a:srgbClr val="F26B43"/>
          </p15:clr>
        </p15:guide>
        <p15:guide id="3" orient="horz" pos="102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6"/>
          <p:cNvSpPr/>
          <p:nvPr userDrawn="1"/>
        </p:nvSpPr>
        <p:spPr>
          <a:xfrm>
            <a:off x="0" y="6210000"/>
            <a:ext cx="9144000" cy="64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10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9950B540-FFE9-114B-82F2-E50E718A477E}" type="datetime1">
              <a:rPr lang="en-US" smtClean="0"/>
              <a:t>10/11/2025</a:t>
            </a:fld>
            <a:endParaRPr lang="nl-NL" dirty="0"/>
          </a:p>
        </p:txBody>
      </p:sp>
      <p:sp>
        <p:nvSpPr>
          <p:cNvPr id="11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2" name="Afbeelding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3200" y="6353999"/>
            <a:ext cx="1008305" cy="360000"/>
          </a:xfrm>
          <a:prstGeom prst="rect">
            <a:avLst/>
          </a:prstGeom>
        </p:spPr>
      </p:pic>
      <p:sp>
        <p:nvSpPr>
          <p:cNvPr id="13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286250" y="6210000"/>
            <a:ext cx="369255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6000" y="216000"/>
            <a:ext cx="7991738" cy="115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6000" y="1656000"/>
            <a:ext cx="7991738" cy="44372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8281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2" r:id="rId2"/>
    <p:sldLayoutId id="2147483684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26" userDrawn="1">
          <p15:clr>
            <a:srgbClr val="F26B43"/>
          </p15:clr>
        </p15:guide>
        <p15:guide id="2" pos="5397" userDrawn="1">
          <p15:clr>
            <a:srgbClr val="F26B43"/>
          </p15:clr>
        </p15:guide>
        <p15:guide id="3" orient="horz" pos="381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0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29189" y="922638"/>
            <a:ext cx="8485622" cy="1430722"/>
          </a:xfrm>
        </p:spPr>
        <p:txBody>
          <a:bodyPr/>
          <a:lstStyle/>
          <a:p>
            <a:pPr algn="ctr"/>
            <a:r>
              <a:rPr lang="nl-NL" dirty="0"/>
              <a:t>Measurement of isoscalar resonances in 58Ni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329189" y="5284798"/>
            <a:ext cx="8749070" cy="1080143"/>
          </a:xfrm>
        </p:spPr>
        <p:txBody>
          <a:bodyPr>
            <a:noAutofit/>
          </a:bodyPr>
          <a:lstStyle/>
          <a:p>
            <a:pPr algn="ctr"/>
            <a:r>
              <a:rPr lang="nl-NL" sz="2000" b="1" dirty="0"/>
              <a:t>Alex Antony Arokiaraj</a:t>
            </a:r>
            <a:r>
              <a:rPr lang="nl-NL" sz="2000" dirty="0"/>
              <a:t>, 27 </a:t>
            </a:r>
            <a:r>
              <a:rPr lang="nl-NL" sz="2000" dirty="0" err="1"/>
              <a:t>June</a:t>
            </a:r>
            <a:r>
              <a:rPr lang="nl-NL" sz="2000" dirty="0"/>
              <a:t> 2025</a:t>
            </a:r>
          </a:p>
          <a:p>
            <a:pPr algn="ctr"/>
            <a:r>
              <a:rPr lang="nl-NL" sz="2000" dirty="0"/>
              <a:t>Supervised by Prof. Dr. Riccardo Raabe, Dr. Marine Vandenbrouck	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687" y="2235199"/>
            <a:ext cx="3888260" cy="2872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733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2</a:t>
            </a:fld>
            <a:endParaRPr lang="nl-NL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002060"/>
                </a:solidFill>
                <a:latin typeface="Agency FB" panose="020B0503020202020204" pitchFamily="34" charset="0"/>
              </a:rPr>
              <a:t>Giant Resonances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576001" y="1143076"/>
            <a:ext cx="2373934" cy="169553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9935" y="1143076"/>
            <a:ext cx="6101676" cy="4489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22790" y="5580313"/>
            <a:ext cx="26159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Fig courtesy: Bagchi 2015 PhD 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277" y="2781994"/>
            <a:ext cx="18526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Fig courtesy: Elias Khan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581" y="4665639"/>
            <a:ext cx="3586039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Multipole Decomposition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581" y="5183338"/>
            <a:ext cx="3586039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Inelastic scattering – alpha probe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3450866" y="4404029"/>
            <a:ext cx="7951" cy="261610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740620" y="5354252"/>
            <a:ext cx="545630" cy="6256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77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3</a:t>
            </a:fld>
            <a:endParaRPr lang="nl-NL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751193" y="2943788"/>
            <a:ext cx="7991475" cy="1030291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Agency FB" panose="020B0503020202020204" pitchFamily="34" charset="0"/>
              </a:rPr>
              <a:t>Impetus for GR measurements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8970" y="1038705"/>
            <a:ext cx="3625795" cy="1092937"/>
          </a:xfrm>
          <a:prstGeom prst="rect">
            <a:avLst/>
          </a:prstGeom>
        </p:spPr>
      </p:pic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3223448010"/>
              </p:ext>
            </p:extLst>
          </p:nvPr>
        </p:nvGraphicFramePr>
        <p:xfrm>
          <a:off x="970060" y="2225387"/>
          <a:ext cx="4571869" cy="4687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452600" y="2275111"/>
            <a:ext cx="2178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</a:t>
            </a:r>
            <a:r>
              <a:rPr lang="en-US" baseline="-25000" dirty="0"/>
              <a:t>∞</a:t>
            </a:r>
            <a:r>
              <a:rPr lang="en-US" dirty="0"/>
              <a:t>  = 100-400 MeV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58566" y="2328972"/>
            <a:ext cx="15982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J.P. Blaziot et.al 1995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3505050" y="4174965"/>
            <a:ext cx="2133637" cy="468125"/>
            <a:chOff x="1219115" y="327"/>
            <a:chExt cx="2133637" cy="468125"/>
          </a:xfrm>
        </p:grpSpPr>
        <p:sp>
          <p:nvSpPr>
            <p:cNvPr id="14" name="Rectangle 13"/>
            <p:cNvSpPr/>
            <p:nvPr/>
          </p:nvSpPr>
          <p:spPr>
            <a:xfrm>
              <a:off x="1219115" y="327"/>
              <a:ext cx="2133637" cy="468125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219115" y="327"/>
              <a:ext cx="2133637" cy="46812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500" kern="1200" dirty="0"/>
                <a:t>Microscopic Approach </a:t>
              </a: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751193" y="4710425"/>
            <a:ext cx="813418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Fully Consistent RPA (Random Phase Approximations)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Provides at the same time K</a:t>
            </a:r>
            <a:r>
              <a:rPr lang="en-US" baseline="-25000" dirty="0"/>
              <a:t>∞</a:t>
            </a:r>
            <a:r>
              <a:rPr lang="en-US" dirty="0"/>
              <a:t> , E</a:t>
            </a:r>
            <a:r>
              <a:rPr lang="en-US" baseline="-25000" dirty="0"/>
              <a:t>ISGMR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</a:t>
            </a:r>
            <a:r>
              <a:rPr lang="en-US" baseline="-25000" dirty="0"/>
              <a:t>∞</a:t>
            </a:r>
            <a:r>
              <a:rPr lang="en-US" dirty="0"/>
              <a:t>  = 240 ± 10 MeV,  </a:t>
            </a:r>
            <a:r>
              <a:rPr lang="en-US" baseline="30000" dirty="0"/>
              <a:t>208</a:t>
            </a:r>
            <a:r>
              <a:rPr lang="en-US" dirty="0"/>
              <a:t>Pb </a:t>
            </a:r>
            <a:r>
              <a:rPr lang="en-US" sz="1100" i="1" dirty="0"/>
              <a:t>B.K.Agrawal et.al 2003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</a:t>
            </a:r>
            <a:r>
              <a:rPr lang="en-US" baseline="-25000" dirty="0"/>
              <a:t>∞</a:t>
            </a:r>
            <a:r>
              <a:rPr lang="en-US" dirty="0"/>
              <a:t>  = 230 ± 40 MeV,  </a:t>
            </a:r>
            <a:r>
              <a:rPr lang="en-US" baseline="30000" dirty="0"/>
              <a:t>208</a:t>
            </a:r>
            <a:r>
              <a:rPr lang="en-US" dirty="0"/>
              <a:t>Pb,</a:t>
            </a:r>
            <a:r>
              <a:rPr lang="en-US" baseline="30000" dirty="0"/>
              <a:t> 120</a:t>
            </a:r>
            <a:r>
              <a:rPr lang="en-US" dirty="0"/>
              <a:t>Sn </a:t>
            </a:r>
            <a:r>
              <a:rPr lang="en-US" sz="1100" i="1" dirty="0"/>
              <a:t>Khan et.al 2013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765854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4</a:t>
            </a:fld>
            <a:endParaRPr lang="nl-NL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Agency FB" panose="020B0503020202020204" pitchFamily="34" charset="0"/>
              </a:rPr>
              <a:t>Benchmarks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017713"/>
              </p:ext>
            </p:extLst>
          </p:nvPr>
        </p:nvGraphicFramePr>
        <p:xfrm>
          <a:off x="637857" y="4016439"/>
          <a:ext cx="8362211" cy="2071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0285">
                  <a:extLst>
                    <a:ext uri="{9D8B030D-6E8A-4147-A177-3AD203B41FA5}">
                      <a16:colId xmlns:a16="http://schemas.microsoft.com/office/drawing/2014/main" val="3175285269"/>
                    </a:ext>
                  </a:extLst>
                </a:gridCol>
                <a:gridCol w="1428173">
                  <a:extLst>
                    <a:ext uri="{9D8B030D-6E8A-4147-A177-3AD203B41FA5}">
                      <a16:colId xmlns:a16="http://schemas.microsoft.com/office/drawing/2014/main" val="3846737667"/>
                    </a:ext>
                  </a:extLst>
                </a:gridCol>
                <a:gridCol w="2315828">
                  <a:extLst>
                    <a:ext uri="{9D8B030D-6E8A-4147-A177-3AD203B41FA5}">
                      <a16:colId xmlns:a16="http://schemas.microsoft.com/office/drawing/2014/main" val="232205091"/>
                    </a:ext>
                  </a:extLst>
                </a:gridCol>
                <a:gridCol w="2247562">
                  <a:extLst>
                    <a:ext uri="{9D8B030D-6E8A-4147-A177-3AD203B41FA5}">
                      <a16:colId xmlns:a16="http://schemas.microsoft.com/office/drawing/2014/main" val="2641327518"/>
                    </a:ext>
                  </a:extLst>
                </a:gridCol>
                <a:gridCol w="1390363">
                  <a:extLst>
                    <a:ext uri="{9D8B030D-6E8A-4147-A177-3AD203B41FA5}">
                      <a16:colId xmlns:a16="http://schemas.microsoft.com/office/drawing/2014/main" val="692421335"/>
                    </a:ext>
                  </a:extLst>
                </a:gridCol>
              </a:tblGrid>
              <a:tr h="516835">
                <a:tc>
                  <a:txBody>
                    <a:bodyPr/>
                    <a:lstStyle/>
                    <a:p>
                      <a:r>
                        <a:rPr lang="en-US" sz="1400" dirty="0"/>
                        <a:t>Element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Beam 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Measurements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Target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1222701"/>
                  </a:ext>
                </a:extLst>
              </a:tr>
              <a:tr h="441447">
                <a:tc>
                  <a:txBody>
                    <a:bodyPr/>
                    <a:lstStyle/>
                    <a:p>
                      <a:r>
                        <a:rPr lang="en-US" sz="1400" baseline="30000" dirty="0"/>
                        <a:t>56</a:t>
                      </a:r>
                      <a:r>
                        <a:rPr lang="en-US" sz="1400" dirty="0"/>
                        <a:t>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MeV/A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Monrozeau et.al 2008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E</a:t>
                      </a:r>
                      <a:r>
                        <a:rPr lang="en-US" sz="1400" baseline="-25000" dirty="0"/>
                        <a:t>ISGMR</a:t>
                      </a:r>
                      <a:r>
                        <a:rPr lang="en-US" sz="1400" dirty="0"/>
                        <a:t> = 19.3 ± 0.5 MeV</a:t>
                      </a:r>
                    </a:p>
                    <a:p>
                      <a:r>
                        <a:rPr lang="en-US" sz="1400" dirty="0"/>
                        <a:t>E</a:t>
                      </a:r>
                      <a:r>
                        <a:rPr lang="en-US" sz="1400" baseline="-25000" dirty="0"/>
                        <a:t>ISGQR</a:t>
                      </a:r>
                      <a:r>
                        <a:rPr lang="en-US" sz="1400" dirty="0"/>
                        <a:t> = 16.2 ± 0.5 MeV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MAYA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2202282"/>
                  </a:ext>
                </a:extLst>
              </a:tr>
              <a:tr h="384574">
                <a:tc>
                  <a:txBody>
                    <a:bodyPr/>
                    <a:lstStyle/>
                    <a:p>
                      <a:r>
                        <a:rPr lang="en-US" sz="1400" baseline="30000" dirty="0"/>
                        <a:t>68</a:t>
                      </a:r>
                      <a:r>
                        <a:rPr lang="en-US" sz="1400" dirty="0"/>
                        <a:t>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MeV/A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Vandebrouck et.al 2015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E</a:t>
                      </a:r>
                      <a:r>
                        <a:rPr lang="en-US" sz="1400" baseline="-25000" dirty="0"/>
                        <a:t>ISGMR</a:t>
                      </a:r>
                      <a:r>
                        <a:rPr lang="en-US" sz="1400" dirty="0"/>
                        <a:t> = 21.1 ± 1.9 MeV</a:t>
                      </a:r>
                    </a:p>
                    <a:p>
                      <a:r>
                        <a:rPr lang="en-US" sz="1400" dirty="0"/>
                        <a:t>E</a:t>
                      </a:r>
                      <a:r>
                        <a:rPr lang="en-US" sz="1400" baseline="-25000" dirty="0"/>
                        <a:t>ISGQR</a:t>
                      </a:r>
                      <a:r>
                        <a:rPr lang="en-US" sz="1400" dirty="0"/>
                        <a:t> = 15.9 ± 1.3 MeV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MAYA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019994"/>
                  </a:ext>
                </a:extLst>
              </a:tr>
              <a:tr h="384574">
                <a:tc>
                  <a:txBody>
                    <a:bodyPr/>
                    <a:lstStyle/>
                    <a:p>
                      <a:r>
                        <a:rPr lang="en-US" sz="1400" baseline="30000" dirty="0"/>
                        <a:t>56</a:t>
                      </a:r>
                      <a:r>
                        <a:rPr lang="en-US" sz="1400" dirty="0"/>
                        <a:t>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MeV/A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Bagchi et.al 2015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E</a:t>
                      </a:r>
                      <a:r>
                        <a:rPr lang="en-US" sz="1400" baseline="-25000" dirty="0"/>
                        <a:t>ISGMR</a:t>
                      </a:r>
                      <a:r>
                        <a:rPr lang="en-US" sz="1400" dirty="0"/>
                        <a:t> = 19.1 ± 0.5 MeV</a:t>
                      </a:r>
                    </a:p>
                    <a:p>
                      <a:r>
                        <a:rPr lang="en-US" sz="1400" dirty="0"/>
                        <a:t>E</a:t>
                      </a:r>
                      <a:r>
                        <a:rPr lang="en-US" sz="1400" baseline="-25000" dirty="0"/>
                        <a:t>ISGDR</a:t>
                      </a:r>
                      <a:r>
                        <a:rPr lang="en-US" sz="1400" dirty="0"/>
                        <a:t> = 17.4 ± 0.7 MeV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MAYA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208079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294BEC96-8C22-4C49-9713-1EBF0300237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12"/>
          <a:stretch/>
        </p:blipFill>
        <p:spPr>
          <a:xfrm>
            <a:off x="637857" y="1121348"/>
            <a:ext cx="3364218" cy="2772845"/>
          </a:xfrm>
          <a:prstGeom prst="rect">
            <a:avLst/>
          </a:prstGeom>
          <a:ln w="25400">
            <a:solidFill>
              <a:srgbClr val="116E8A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66E4282-B35D-D44C-BC67-A6D5AAD228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8496" y="1112314"/>
            <a:ext cx="4831572" cy="2772844"/>
          </a:xfrm>
          <a:prstGeom prst="rect">
            <a:avLst/>
          </a:prstGeom>
          <a:ln w="25400">
            <a:solidFill>
              <a:srgbClr val="116E8A"/>
            </a:solidFill>
          </a:ln>
        </p:spPr>
      </p:pic>
    </p:spTree>
    <p:extLst>
      <p:ext uri="{BB962C8B-B14F-4D97-AF65-F5344CB8AC3E}">
        <p14:creationId xmlns:p14="http://schemas.microsoft.com/office/powerpoint/2010/main" val="3008073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5</a:t>
            </a:fld>
            <a:endParaRPr lang="nl-NL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705" y="864873"/>
            <a:ext cx="5088835" cy="508987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857939" y="5069456"/>
            <a:ext cx="167385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i="1" dirty="0"/>
              <a:t>Vandebrouck et.al 2015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03444" y="5404136"/>
            <a:ext cx="26159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Fig courtesy: Bagchi 2015 PhD Thesis</a:t>
            </a:r>
          </a:p>
        </p:txBody>
      </p:sp>
      <p:pic>
        <p:nvPicPr>
          <p:cNvPr id="14" name="Content Placeholde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8868" y="1036290"/>
            <a:ext cx="4665132" cy="362616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0AA2ABE7-FFFD-301F-D386-B8129A63A04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6263" y="214313"/>
            <a:ext cx="7991475" cy="583406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2060"/>
                </a:solidFill>
                <a:latin typeface="Agency FB" panose="020B0503020202020204" pitchFamily="34" charset="0"/>
              </a:rPr>
              <a:t>Measurements with MAYA Active Target 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910215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6</a:t>
            </a:fld>
            <a:endParaRPr lang="nl-NL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08266" y="131333"/>
            <a:ext cx="7991738" cy="1152000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002060"/>
                </a:solidFill>
                <a:latin typeface="Agency FB" panose="020B0503020202020204" pitchFamily="34" charset="0"/>
              </a:rPr>
              <a:t>ACTAR TPC – Improved version of MAYA </a:t>
            </a:r>
            <a:endParaRPr lang="en-US" sz="400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508266" y="1017201"/>
            <a:ext cx="5138733" cy="3406546"/>
          </a:xfrm>
          <a:prstGeom prst="rect">
            <a:avLst/>
          </a:prstGeom>
        </p:spPr>
      </p:pic>
      <p:pic>
        <p:nvPicPr>
          <p:cNvPr id="8" name="Image 39" descr="ACTAR complet.bmp">
            <a:extLst>
              <a:ext uri="{FF2B5EF4-FFF2-40B4-BE49-F238E27FC236}">
                <a16:creationId xmlns:a16="http://schemas.microsoft.com/office/drawing/2014/main" id="{DD796C3B-75EE-934C-B708-405A170F9423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862678" y="1183161"/>
            <a:ext cx="2637326" cy="324058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3033" y="4623415"/>
            <a:ext cx="420321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505050"/>
                </a:solidFill>
                <a:latin typeface="+mj-lt"/>
              </a:rPr>
              <a:t>MAYA - 35 × 35 hexagonal pads with 5 mm sides</a:t>
            </a:r>
          </a:p>
          <a:p>
            <a:pPr algn="ctr"/>
            <a:endParaRPr lang="en-US" dirty="0">
              <a:solidFill>
                <a:srgbClr val="505050"/>
              </a:solidFill>
              <a:latin typeface="+mj-lt"/>
            </a:endParaRPr>
          </a:p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6D1277-3184-F2B5-6988-982297C77B97}"/>
              </a:ext>
            </a:extLst>
          </p:cNvPr>
          <p:cNvSpPr txBox="1"/>
          <p:nvPr/>
        </p:nvSpPr>
        <p:spPr>
          <a:xfrm>
            <a:off x="4730097" y="4623415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505050"/>
                </a:solidFill>
                <a:latin typeface="+mj-lt"/>
              </a:rPr>
              <a:t>ACTAR - 128 × 128 square pads with 2 mm sides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28244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5CB7A89-C622-7B31-5ED2-2940A8657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32954B-1AFF-3C3D-E9B8-4250B0A22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7</a:t>
            </a:fld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2F0CD9-3460-C538-E805-30340BBED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1509712"/>
            <a:ext cx="7353300" cy="38385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8FEEDF-0B59-9235-545A-3E78A6E471A6}"/>
              </a:ext>
            </a:extLst>
          </p:cNvPr>
          <p:cNvSpPr txBox="1"/>
          <p:nvPr/>
        </p:nvSpPr>
        <p:spPr>
          <a:xfrm>
            <a:off x="1397237" y="716789"/>
            <a:ext cx="63495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Agency FB" panose="020B0503020202020204" pitchFamily="34" charset="0"/>
              </a:rPr>
              <a:t>Track Reconstruction Techniques  determination of lab angle and range</a:t>
            </a:r>
            <a:endParaRPr lang="nl-BE" sz="14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6979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8</a:t>
            </a:fld>
            <a:endParaRPr lang="nl-NL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576263" y="214184"/>
            <a:ext cx="7991475" cy="5834191"/>
          </a:xfrm>
        </p:spPr>
        <p:txBody>
          <a:bodyPr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2060"/>
                </a:solidFill>
                <a:latin typeface="Agency FB" panose="020B0503020202020204" pitchFamily="34" charset="0"/>
              </a:rPr>
              <a:t>Performance on Simulated Data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70263" y="3579223"/>
            <a:ext cx="3500846" cy="548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89F5D3-C40C-7FCC-6BA2-7E11B81EF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00" y="1017587"/>
            <a:ext cx="6705600" cy="39338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6FB870-F46D-28F2-9449-541950AF9E10}"/>
              </a:ext>
            </a:extLst>
          </p:cNvPr>
          <p:cNvSpPr txBox="1"/>
          <p:nvPr/>
        </p:nvSpPr>
        <p:spPr>
          <a:xfrm>
            <a:off x="470263" y="4812320"/>
            <a:ext cx="816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dirty="0">
                <a:effectLst/>
                <a:latin typeface="Abadi" panose="020B0604020104020204" pitchFamily="34" charset="0"/>
              </a:rPr>
              <a:t>Events reconstructed from the simulation on the kinematic line. The numbers</a:t>
            </a:r>
            <a:br>
              <a:rPr lang="en-US" sz="1200" dirty="0">
                <a:latin typeface="Abadi" panose="020B0604020104020204" pitchFamily="34" charset="0"/>
              </a:rPr>
            </a:br>
            <a:r>
              <a:rPr lang="en-US" sz="1200" b="0" i="0" dirty="0">
                <a:effectLst/>
                <a:latin typeface="Abadi" panose="020B0604020104020204" pitchFamily="34" charset="0"/>
              </a:rPr>
              <a:t>marked on each kinematic line represent the excitation energy in MeV. The filled red circles</a:t>
            </a:r>
            <a:br>
              <a:rPr lang="en-US" sz="1200" dirty="0">
                <a:latin typeface="Abadi" panose="020B0604020104020204" pitchFamily="34" charset="0"/>
              </a:rPr>
            </a:br>
            <a:r>
              <a:rPr lang="en-US" sz="1200" b="0" i="0" dirty="0">
                <a:effectLst/>
                <a:latin typeface="Abadi" panose="020B0604020104020204" pitchFamily="34" charset="0"/>
              </a:rPr>
              <a:t>correspond to the center of mass angles (θcm=1.0◦, 2.0◦, 3.0◦, 4.0◦) for each excitation</a:t>
            </a:r>
            <a:br>
              <a:rPr lang="en-US" sz="1200" dirty="0">
                <a:latin typeface="Abadi" panose="020B0604020104020204" pitchFamily="34" charset="0"/>
              </a:rPr>
            </a:br>
            <a:r>
              <a:rPr lang="en-US" sz="1200" b="0" i="0" dirty="0">
                <a:effectLst/>
                <a:latin typeface="Abadi" panose="020B0604020104020204" pitchFamily="34" charset="0"/>
              </a:rPr>
              <a:t>energy</a:t>
            </a:r>
            <a:endParaRPr lang="nl-BE" sz="12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676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174282" y="6210000"/>
            <a:ext cx="3692550" cy="648000"/>
          </a:xfrm>
        </p:spPr>
        <p:txBody>
          <a:bodyPr/>
          <a:lstStyle/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9</a:t>
            </a:fld>
            <a:endParaRPr lang="nl-NL" dirty="0"/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CF8ABBEC-A01D-A6F0-0979-D73D50C4BC5D}"/>
              </a:ext>
            </a:extLst>
          </p:cNvPr>
          <p:cNvSpPr txBox="1">
            <a:spLocks/>
          </p:cNvSpPr>
          <p:nvPr/>
        </p:nvSpPr>
        <p:spPr>
          <a:xfrm>
            <a:off x="372800" y="393800"/>
            <a:ext cx="7991738" cy="787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2000" b="1" dirty="0">
              <a:solidFill>
                <a:srgbClr val="00B050"/>
              </a:solidFill>
              <a:latin typeface="Aptos ExtraBold" panose="020F0502020204030204" pitchFamily="34" charset="0"/>
              <a:cs typeface="Segoe UI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80DC36-C5E2-3397-2BFC-185968EC1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9836"/>
            <a:ext cx="8985381" cy="4918327"/>
          </a:xfrm>
          <a:prstGeom prst="rect">
            <a:avLst/>
          </a:prstGeom>
        </p:spPr>
      </p:pic>
      <p:sp>
        <p:nvSpPr>
          <p:cNvPr id="7" name="Title 4">
            <a:extLst>
              <a:ext uri="{FF2B5EF4-FFF2-40B4-BE49-F238E27FC236}">
                <a16:creationId xmlns:a16="http://schemas.microsoft.com/office/drawing/2014/main" id="{51C564AA-64CD-CF74-BD64-DC093D09230D}"/>
              </a:ext>
            </a:extLst>
          </p:cNvPr>
          <p:cNvSpPr txBox="1">
            <a:spLocks/>
          </p:cNvSpPr>
          <p:nvPr/>
        </p:nvSpPr>
        <p:spPr>
          <a:xfrm>
            <a:off x="512500" y="141262"/>
            <a:ext cx="7991738" cy="787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2000" b="1" dirty="0">
              <a:solidFill>
                <a:srgbClr val="00B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5F0AF2-D703-5B7B-C4D3-DFB2B5A9EA87}"/>
              </a:ext>
            </a:extLst>
          </p:cNvPr>
          <p:cNvSpPr txBox="1"/>
          <p:nvPr/>
        </p:nvSpPr>
        <p:spPr>
          <a:xfrm>
            <a:off x="1321242" y="141262"/>
            <a:ext cx="65455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2060"/>
                </a:solidFill>
                <a:latin typeface="Agency FB" panose="020B0503020202020204" pitchFamily="34" charset="0"/>
              </a:rPr>
              <a:t>Validation on Experimental Data</a:t>
            </a:r>
          </a:p>
        </p:txBody>
      </p:sp>
    </p:spTree>
    <p:extLst>
      <p:ext uri="{BB962C8B-B14F-4D97-AF65-F5344CB8AC3E}">
        <p14:creationId xmlns:p14="http://schemas.microsoft.com/office/powerpoint/2010/main" val="3394760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174282" y="6210000"/>
            <a:ext cx="3692550" cy="648000"/>
          </a:xfrm>
        </p:spPr>
        <p:txBody>
          <a:bodyPr/>
          <a:lstStyle/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10</a:t>
            </a:fld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2B357C-49B5-59DB-FB33-0EA094517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0255"/>
            <a:ext cx="9144000" cy="49574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9A252B-12C6-FAA2-E5C9-9AE16285E22E}"/>
              </a:ext>
            </a:extLst>
          </p:cNvPr>
          <p:cNvSpPr txBox="1"/>
          <p:nvPr/>
        </p:nvSpPr>
        <p:spPr>
          <a:xfrm>
            <a:off x="1224000" y="242369"/>
            <a:ext cx="65455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2060"/>
                </a:solidFill>
                <a:latin typeface="Agency FB" panose="020B0503020202020204" pitchFamily="34" charset="0"/>
              </a:rPr>
              <a:t>Results on the Experimental Data </a:t>
            </a:r>
          </a:p>
        </p:txBody>
      </p:sp>
    </p:spTree>
    <p:extLst>
      <p:ext uri="{BB962C8B-B14F-4D97-AF65-F5344CB8AC3E}">
        <p14:creationId xmlns:p14="http://schemas.microsoft.com/office/powerpoint/2010/main" val="1639829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4F1A9B9-7493-EDFB-7A54-2E5D4E002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5C1BF6-8AB5-2690-86FC-A044E3C8C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11</a:t>
            </a:fld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3C2EA0-D15F-DFD7-4C95-FCC7C39FF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5028"/>
            <a:ext cx="9144000" cy="50849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953A94-77E1-437A-60DB-189F7F4E44F5}"/>
              </a:ext>
            </a:extLst>
          </p:cNvPr>
          <p:cNvSpPr txBox="1"/>
          <p:nvPr/>
        </p:nvSpPr>
        <p:spPr>
          <a:xfrm>
            <a:off x="1224000" y="242369"/>
            <a:ext cx="65455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2060"/>
                </a:solidFill>
                <a:latin typeface="Agency FB" panose="020B0503020202020204" pitchFamily="34" charset="0"/>
              </a:rPr>
              <a:t>Article on the Track Reconstruction </a:t>
            </a:r>
          </a:p>
        </p:txBody>
      </p:sp>
    </p:spTree>
    <p:extLst>
      <p:ext uri="{BB962C8B-B14F-4D97-AF65-F5344CB8AC3E}">
        <p14:creationId xmlns:p14="http://schemas.microsoft.com/office/powerpoint/2010/main" val="2245145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12</a:t>
            </a:fld>
            <a:endParaRPr lang="nl-NL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153825" y="1222049"/>
            <a:ext cx="8896172" cy="482632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Simulations for a paper on the study of the beta delayed alpha particles from 11 Be. </a:t>
            </a:r>
          </a:p>
          <a:p>
            <a:r>
              <a:rPr lang="en-US" dirty="0"/>
              <a:t>Master project for a 3 ECTS course (Research Methods in Nuclear Physics)</a:t>
            </a:r>
          </a:p>
          <a:p>
            <a:r>
              <a:rPr lang="en-US" dirty="0"/>
              <a:t>Teaching assistant for the Classical Mechanics course</a:t>
            </a:r>
          </a:p>
          <a:p>
            <a:r>
              <a:rPr lang="en-US" b="1" dirty="0"/>
              <a:t>Additional course units followed</a:t>
            </a:r>
            <a:r>
              <a:rPr lang="en-US" dirty="0"/>
              <a:t>:</a:t>
            </a:r>
          </a:p>
          <a:p>
            <a:pPr lvl="0"/>
            <a:r>
              <a:rPr lang="en-US" dirty="0"/>
              <a:t>Managing my PhD </a:t>
            </a:r>
          </a:p>
          <a:p>
            <a:pPr lvl="0"/>
            <a:r>
              <a:rPr lang="en-US" dirty="0"/>
              <a:t>Data Analysis with Python </a:t>
            </a:r>
          </a:p>
          <a:p>
            <a:pPr lvl="0"/>
            <a:r>
              <a:rPr lang="en-US" dirty="0"/>
              <a:t>Intensive Academic Writing </a:t>
            </a:r>
          </a:p>
          <a:p>
            <a:pPr lvl="0"/>
            <a:r>
              <a:rPr lang="en-US" dirty="0"/>
              <a:t>Writing successful grants </a:t>
            </a:r>
          </a:p>
          <a:p>
            <a:pPr lvl="0"/>
            <a:r>
              <a:rPr lang="en-US" dirty="0"/>
              <a:t>Creative Problem Solving</a:t>
            </a:r>
          </a:p>
          <a:p>
            <a:pPr lvl="0"/>
            <a:r>
              <a:rPr lang="en-US" dirty="0"/>
              <a:t>Interpersonal Skills</a:t>
            </a:r>
          </a:p>
          <a:p>
            <a:pPr lvl="0"/>
            <a:r>
              <a:rPr lang="en-US" dirty="0"/>
              <a:t>Introduction to Leadership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17A47B-BF03-BCFF-CE55-85E2B71EB0AE}"/>
              </a:ext>
            </a:extLst>
          </p:cNvPr>
          <p:cNvSpPr txBox="1"/>
          <p:nvPr/>
        </p:nvSpPr>
        <p:spPr>
          <a:xfrm>
            <a:off x="1224000" y="242369"/>
            <a:ext cx="65455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2060"/>
                </a:solidFill>
                <a:latin typeface="Agency FB" panose="020B0503020202020204" pitchFamily="34" charset="0"/>
              </a:rPr>
              <a:t>PhD Activities</a:t>
            </a:r>
          </a:p>
        </p:txBody>
      </p:sp>
    </p:spTree>
    <p:extLst>
      <p:ext uri="{BB962C8B-B14F-4D97-AF65-F5344CB8AC3E}">
        <p14:creationId xmlns:p14="http://schemas.microsoft.com/office/powerpoint/2010/main" val="1235515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13</a:t>
            </a:fld>
            <a:endParaRPr lang="nl-N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90E8E8-FCD7-A053-699A-934AB5B56C90}"/>
              </a:ext>
            </a:extLst>
          </p:cNvPr>
          <p:cNvSpPr txBox="1"/>
          <p:nvPr/>
        </p:nvSpPr>
        <p:spPr>
          <a:xfrm>
            <a:off x="1224000" y="242369"/>
            <a:ext cx="65455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2060"/>
                </a:solidFill>
                <a:latin typeface="Agency FB" panose="020B0503020202020204" pitchFamily="34" charset="0"/>
              </a:rPr>
              <a:t>Time plan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960C8B-1B9B-284F-8E5D-129B30A30047}"/>
              </a:ext>
            </a:extLst>
          </p:cNvPr>
          <p:cNvSpPr txBox="1"/>
          <p:nvPr/>
        </p:nvSpPr>
        <p:spPr>
          <a:xfrm>
            <a:off x="777667" y="1743342"/>
            <a:ext cx="782794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Expected Timelines </a:t>
            </a:r>
          </a:p>
          <a:p>
            <a:pPr algn="ctr"/>
            <a:endParaRPr lang="en-US" dirty="0"/>
          </a:p>
          <a:p>
            <a:pPr marL="342900" indent="-342900">
              <a:buFont typeface="+mj-lt"/>
              <a:buAutoNum type="arabicParenR"/>
            </a:pPr>
            <a:r>
              <a:rPr lang="en-US" dirty="0"/>
              <a:t>Submission of article – </a:t>
            </a:r>
            <a:r>
              <a:rPr lang="en-US" b="1" dirty="0"/>
              <a:t>October 2025</a:t>
            </a:r>
          </a:p>
          <a:p>
            <a:pPr marL="342900" indent="-342900">
              <a:buFont typeface="+mj-lt"/>
              <a:buAutoNum type="arabicParenR"/>
            </a:pPr>
            <a:r>
              <a:rPr lang="nl-BE" dirty="0"/>
              <a:t>Acceptance -  </a:t>
            </a:r>
            <a:r>
              <a:rPr lang="nl-BE" b="1" dirty="0"/>
              <a:t>December 2025</a:t>
            </a:r>
          </a:p>
          <a:p>
            <a:pPr marL="342900" indent="-342900">
              <a:buFont typeface="+mj-lt"/>
              <a:buAutoNum type="arabicParenR"/>
            </a:pPr>
            <a:r>
              <a:rPr lang="nl-BE" dirty="0"/>
              <a:t>Thesis  Submission – </a:t>
            </a:r>
            <a:r>
              <a:rPr lang="nl-BE" b="1" dirty="0"/>
              <a:t>March 2026</a:t>
            </a:r>
          </a:p>
          <a:p>
            <a:pPr marL="342900" indent="-342900">
              <a:buFont typeface="+mj-lt"/>
              <a:buAutoNum type="arabicParenR"/>
            </a:pPr>
            <a:r>
              <a:rPr lang="nl-BE" dirty="0"/>
              <a:t>Completion – </a:t>
            </a:r>
            <a:r>
              <a:rPr lang="nl-BE" b="1" dirty="0"/>
              <a:t>April – May 2026</a:t>
            </a:r>
          </a:p>
          <a:p>
            <a:pPr marL="342900" indent="-342900">
              <a:buFont typeface="+mj-lt"/>
              <a:buAutoNum type="arabicParenR"/>
            </a:pPr>
            <a:endParaRPr lang="nl-BE" b="1" dirty="0"/>
          </a:p>
          <a:p>
            <a:pPr marL="342900" indent="-342900">
              <a:buFont typeface="+mj-lt"/>
              <a:buAutoNum type="arabicParenR"/>
            </a:pPr>
            <a:endParaRPr lang="nl-BE" b="1" dirty="0"/>
          </a:p>
          <a:p>
            <a:pPr marL="342900" indent="-342900">
              <a:buFont typeface="+mj-lt"/>
              <a:buAutoNum type="arabicParenR"/>
            </a:pPr>
            <a:endParaRPr lang="nl-BE" b="1" dirty="0"/>
          </a:p>
        </p:txBody>
      </p:sp>
    </p:spTree>
    <p:extLst>
      <p:ext uri="{BB962C8B-B14F-4D97-AF65-F5344CB8AC3E}">
        <p14:creationId xmlns:p14="http://schemas.microsoft.com/office/powerpoint/2010/main" val="3441597810"/>
      </p:ext>
    </p:extLst>
  </p:cSld>
  <p:clrMapOvr>
    <a:masterClrMapping/>
  </p:clrMapOvr>
</p:sld>
</file>

<file path=ppt/theme/theme1.xml><?xml version="1.0" encoding="utf-8"?>
<a:theme xmlns:a="http://schemas.openxmlformats.org/drawingml/2006/main" name="KU Leuven">
  <a:themeElements>
    <a:clrScheme name="Custom 14">
      <a:dk1>
        <a:srgbClr val="2F4D5D"/>
      </a:dk1>
      <a:lt1>
        <a:srgbClr val="FFFFFF"/>
      </a:lt1>
      <a:dk2>
        <a:srgbClr val="1D8DB0"/>
      </a:dk2>
      <a:lt2>
        <a:srgbClr val="DCE7F0"/>
      </a:lt2>
      <a:accent1>
        <a:srgbClr val="1D8DB0"/>
      </a:accent1>
      <a:accent2>
        <a:srgbClr val="2F4D5D"/>
      </a:accent2>
      <a:accent3>
        <a:srgbClr val="52BDEC"/>
      </a:accent3>
      <a:accent4>
        <a:srgbClr val="466E87"/>
      </a:accent4>
      <a:accent5>
        <a:srgbClr val="E7B037"/>
      </a:accent5>
      <a:accent6>
        <a:srgbClr val="D4D842"/>
      </a:accent6>
      <a:hlink>
        <a:srgbClr val="466E87"/>
      </a:hlink>
      <a:folHlink>
        <a:srgbClr val="1D8D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U Leuven sedes">
  <a:themeElements>
    <a:clrScheme name="Custom 14">
      <a:dk1>
        <a:srgbClr val="2F4D5D"/>
      </a:dk1>
      <a:lt1>
        <a:srgbClr val="FFFFFF"/>
      </a:lt1>
      <a:dk2>
        <a:srgbClr val="1D8DB0"/>
      </a:dk2>
      <a:lt2>
        <a:srgbClr val="DCE7F0"/>
      </a:lt2>
      <a:accent1>
        <a:srgbClr val="1D8DB0"/>
      </a:accent1>
      <a:accent2>
        <a:srgbClr val="2F4D5D"/>
      </a:accent2>
      <a:accent3>
        <a:srgbClr val="52BDEC"/>
      </a:accent3>
      <a:accent4>
        <a:srgbClr val="466E87"/>
      </a:accent4>
      <a:accent5>
        <a:srgbClr val="E7B037"/>
      </a:accent5>
      <a:accent6>
        <a:srgbClr val="D4D842"/>
      </a:accent6>
      <a:hlink>
        <a:srgbClr val="466E87"/>
      </a:hlink>
      <a:folHlink>
        <a:srgbClr val="1D8D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491</Words>
  <Application>Microsoft Office PowerPoint</Application>
  <PresentationFormat>On-screen Show (4:3)</PresentationFormat>
  <Paragraphs>99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Abadi</vt:lpstr>
      <vt:lpstr>Agency FB</vt:lpstr>
      <vt:lpstr>Aptos ExtraBold</vt:lpstr>
      <vt:lpstr>Arial</vt:lpstr>
      <vt:lpstr>Calibri</vt:lpstr>
      <vt:lpstr>Segoe UI</vt:lpstr>
      <vt:lpstr>KU Leuven</vt:lpstr>
      <vt:lpstr>KU Leuven sedes</vt:lpstr>
      <vt:lpstr>Measurement of isoscalar resonances in 58Ni</vt:lpstr>
      <vt:lpstr>Giant Resonances</vt:lpstr>
      <vt:lpstr>Impetus for GR measurements</vt:lpstr>
      <vt:lpstr>Benchmarks</vt:lpstr>
      <vt:lpstr>PowerPoint Presentation</vt:lpstr>
      <vt:lpstr>ACTAR TPC – Improved version of MAYA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2017-09-13T11:56:44Z</dcterms:created>
  <dcterms:modified xsi:type="dcterms:W3CDTF">2025-10-11T19:51:12Z</dcterms:modified>
</cp:coreProperties>
</file>